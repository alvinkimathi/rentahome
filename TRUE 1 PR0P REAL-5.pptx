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227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881459"/>
            <a:ext cx="3310254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3364184"/>
            <a:ext cx="5936615" cy="3558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" TargetMode="External"/><Relationship Id="rId2" Type="http://schemas.openxmlformats.org/officeDocument/2006/relationships/hyperlink" Target="https://laravel.com/doc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etbootstrap.com/docs/" TargetMode="External"/><Relationship Id="rId4" Type="http://schemas.openxmlformats.org/officeDocument/2006/relationships/hyperlink" Target="https://developer.mozilla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301" y="457339"/>
            <a:ext cx="6858000" cy="1371600"/>
          </a:xfrm>
          <a:custGeom>
            <a:avLst/>
            <a:gdLst/>
            <a:ahLst/>
            <a:cxnLst/>
            <a:rect l="l" t="t" r="r" b="b"/>
            <a:pathLst>
              <a:path w="6858000" h="1371600">
                <a:moveTo>
                  <a:pt x="6858000" y="0"/>
                </a:moveTo>
                <a:lnTo>
                  <a:pt x="0" y="0"/>
                </a:lnTo>
                <a:lnTo>
                  <a:pt x="0" y="1371600"/>
                </a:lnTo>
                <a:lnTo>
                  <a:pt x="6858000" y="1371600"/>
                </a:lnTo>
                <a:lnTo>
                  <a:pt x="6858000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21120" y="2876672"/>
            <a:ext cx="3743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4472C4"/>
                </a:solidFill>
                <a:latin typeface="Calibri"/>
                <a:cs typeface="Calibri"/>
              </a:rPr>
              <a:t>PROJECT</a:t>
            </a:r>
            <a:r>
              <a:rPr sz="3600" b="0" spc="-120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3600" b="0" spc="-10" dirty="0">
                <a:solidFill>
                  <a:srgbClr val="4472C4"/>
                </a:solidFill>
                <a:latin typeface="Calibri"/>
                <a:cs typeface="Calibri"/>
              </a:rPr>
              <a:t>PROPOSAL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301" y="4551667"/>
            <a:ext cx="6858000" cy="5029200"/>
          </a:xfrm>
          <a:prstGeom prst="rect">
            <a:avLst/>
          </a:prstGeom>
          <a:solidFill>
            <a:srgbClr val="4472C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LEON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WHITAKER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6074" y="914400"/>
            <a:ext cx="2000249" cy="1333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1700" y="2370016"/>
            <a:ext cx="5965190" cy="430403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300" b="1" dirty="0">
                <a:latin typeface="Times New Roman"/>
                <a:cs typeface="Times New Roman"/>
              </a:rPr>
              <a:t>University: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KCA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UNIVERSITY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300" b="1" dirty="0">
                <a:latin typeface="Times New Roman"/>
                <a:cs typeface="Times New Roman"/>
              </a:rPr>
              <a:t>School: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SCHOOL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300" b="1" dirty="0">
                <a:latin typeface="Times New Roman"/>
                <a:cs typeface="Times New Roman"/>
              </a:rPr>
              <a:t>Course: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BSD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300" b="1" dirty="0">
                <a:latin typeface="Times New Roman"/>
                <a:cs typeface="Times New Roman"/>
              </a:rPr>
              <a:t>Unit: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3101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-</a:t>
            </a:r>
            <a:r>
              <a:rPr sz="1300" spc="29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Project</a:t>
            </a:r>
            <a:endParaRPr sz="1300">
              <a:latin typeface="Times New Roman"/>
              <a:cs typeface="Times New Roman"/>
            </a:endParaRPr>
          </a:p>
          <a:p>
            <a:pPr marL="12700" marR="650875" indent="38100">
              <a:lnSpc>
                <a:spcPct val="110200"/>
              </a:lnSpc>
              <a:spcBef>
                <a:spcPts val="720"/>
              </a:spcBef>
            </a:pPr>
            <a:r>
              <a:rPr sz="1200" b="1" dirty="0">
                <a:latin typeface="Times New Roman"/>
                <a:cs typeface="Times New Roman"/>
              </a:rPr>
              <a:t>DESIGN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DEVELOPMENT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RENTAL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HOUSE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VACANCY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FINDER </a:t>
            </a:r>
            <a:r>
              <a:rPr sz="1200" b="1" dirty="0">
                <a:latin typeface="Times New Roman"/>
                <a:cs typeface="Times New Roman"/>
              </a:rPr>
              <a:t>MANAGEMENT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marL="12700" marR="2251710">
              <a:lnSpc>
                <a:spcPts val="2550"/>
              </a:lnSpc>
              <a:spcBef>
                <a:spcPts val="190"/>
              </a:spcBef>
            </a:pPr>
            <a:r>
              <a:rPr sz="1400" b="1" spc="-10" dirty="0">
                <a:latin typeface="Times New Roman"/>
                <a:cs typeface="Times New Roman"/>
              </a:rPr>
              <a:t>REGISTRATION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NUMBER: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24/06872 </a:t>
            </a:r>
            <a:r>
              <a:rPr sz="1400" b="1" dirty="0">
                <a:latin typeface="Times New Roman"/>
                <a:cs typeface="Times New Roman"/>
              </a:rPr>
              <a:t>STUDENT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NAME: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LEON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WHITAKER SUPERVISOR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NAME: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MS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LISPER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KENDI </a:t>
            </a:r>
            <a:r>
              <a:rPr sz="1400" b="1" dirty="0">
                <a:latin typeface="Times New Roman"/>
                <a:cs typeface="Times New Roman"/>
              </a:rPr>
              <a:t>DATE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SUBMISSION: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30th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September,</a:t>
            </a:r>
            <a:r>
              <a:rPr sz="1400" b="1" spc="-20" dirty="0">
                <a:latin typeface="Times New Roman"/>
                <a:cs typeface="Times New Roman"/>
              </a:rPr>
              <a:t> 2026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latin typeface="Times New Roman"/>
                <a:cs typeface="Times New Roman"/>
              </a:rPr>
              <a:t>Declaration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spcBef>
                <a:spcPts val="535"/>
              </a:spcBef>
            </a:pPr>
            <a:r>
              <a:rPr sz="1200" dirty="0">
                <a:latin typeface="Times New Roman"/>
                <a:cs typeface="Times New Roman"/>
              </a:rPr>
              <a:t>I, LEON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WHITAKER, hereby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declare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 this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proposal 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original work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 </a:t>
            </a:r>
            <a:r>
              <a:rPr sz="1200" spc="-25" dirty="0">
                <a:latin typeface="Times New Roman"/>
                <a:cs typeface="Times New Roman"/>
              </a:rPr>
              <a:t>not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submitted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institution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academic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award.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200" b="1" spc="-10" dirty="0">
                <a:latin typeface="Times New Roman"/>
                <a:cs typeface="Times New Roman"/>
              </a:rPr>
              <a:t>Signature: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727753"/>
            <a:ext cx="1005839" cy="8510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1700" y="7620415"/>
            <a:ext cx="1760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Date: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30th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September,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2026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TABLE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699" y="1419869"/>
            <a:ext cx="4174490" cy="7424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PROPOSAL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INTRODUCTION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PROBLEM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STATEMENT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410"/>
              </a:lnSpc>
              <a:spcBef>
                <a:spcPts val="1340"/>
              </a:spcBef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OBJECTIVES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38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Objective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41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Specific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Objectives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410"/>
              </a:lnSpc>
              <a:spcBef>
                <a:spcPts val="1340"/>
              </a:spcBef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SCOPE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38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Scope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6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41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Out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Scope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410"/>
              </a:lnSpc>
              <a:spcBef>
                <a:spcPts val="1340"/>
              </a:spcBef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38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Admin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.........................................................................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38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Landlord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41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Tenant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........................................................................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410"/>
              </a:lnSpc>
              <a:spcBef>
                <a:spcPts val="1340"/>
              </a:spcBef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REQUIREMENTS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38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Functional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Requirements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</a:t>
            </a:r>
            <a:r>
              <a:rPr sz="1200" spc="-50" dirty="0">
                <a:latin typeface="Times New Roman"/>
                <a:cs typeface="Times New Roman"/>
              </a:rPr>
              <a:t> 6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410"/>
              </a:lnSpc>
              <a:buAutoNum type="arabicPeriod"/>
              <a:tabLst>
                <a:tab pos="39306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Non-</a:t>
            </a:r>
            <a:r>
              <a:rPr sz="1200" b="1" dirty="0">
                <a:latin typeface="Times New Roman"/>
                <a:cs typeface="Times New Roman"/>
              </a:rPr>
              <a:t>Functional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Requirements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2413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METHODOLOGY</a:t>
            </a:r>
            <a:r>
              <a:rPr sz="1200" b="1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 </a:t>
            </a:r>
            <a:r>
              <a:rPr sz="1200" spc="-5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410"/>
              </a:lnSpc>
              <a:spcBef>
                <a:spcPts val="1340"/>
              </a:spcBef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TECHNOLOGY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STACK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38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Frontend</a:t>
            </a:r>
            <a:r>
              <a:rPr sz="1200" b="1" spc="-10" dirty="0">
                <a:latin typeface="Times New Roman"/>
                <a:cs typeface="Times New Roman"/>
              </a:rPr>
              <a:t> Technologies</a:t>
            </a:r>
            <a:r>
              <a:rPr sz="1200" b="1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38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Backend </a:t>
            </a:r>
            <a:r>
              <a:rPr sz="1200" b="1" spc="-10" dirty="0">
                <a:latin typeface="Times New Roman"/>
                <a:cs typeface="Times New Roman"/>
              </a:rPr>
              <a:t>Technologies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 </a:t>
            </a:r>
            <a:r>
              <a:rPr sz="1200" spc="-5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38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Database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410"/>
              </a:lnSpc>
              <a:buAutoNum type="arabicPeriod"/>
              <a:tabLst>
                <a:tab pos="39306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Development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Server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 </a:t>
            </a:r>
            <a:r>
              <a:rPr sz="1200" spc="-5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410"/>
              </a:lnSpc>
              <a:spcBef>
                <a:spcPts val="1335"/>
              </a:spcBef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DATABASE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DESIGN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38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Users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Table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38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Houses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Table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38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House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Images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Table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  <a:p>
            <a:pPr marL="393065" lvl="1" indent="-228600">
              <a:lnSpc>
                <a:spcPts val="1410"/>
              </a:lnSpc>
              <a:buAutoNum type="arabicPeriod"/>
              <a:tabLst>
                <a:tab pos="393065" algn="l"/>
              </a:tabLst>
            </a:pPr>
            <a:r>
              <a:rPr sz="1200" b="1" dirty="0">
                <a:latin typeface="Times New Roman"/>
                <a:cs typeface="Times New Roman"/>
              </a:rPr>
              <a:t>Bookings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Table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317500" algn="l"/>
              </a:tabLst>
            </a:pPr>
            <a:r>
              <a:rPr sz="1200" b="1" dirty="0">
                <a:latin typeface="Times New Roman"/>
                <a:cs typeface="Times New Roman"/>
              </a:rPr>
              <a:t>EXPECTED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OUTCOME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</a:t>
            </a:r>
            <a:r>
              <a:rPr sz="1200" spc="-25" dirty="0">
                <a:latin typeface="Times New Roman"/>
                <a:cs typeface="Times New Roman"/>
              </a:rPr>
              <a:t> 10</a:t>
            </a:r>
            <a:endParaRPr sz="12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317500" algn="l"/>
              </a:tabLst>
            </a:pPr>
            <a:r>
              <a:rPr sz="1200" b="1" dirty="0">
                <a:latin typeface="Times New Roman"/>
                <a:cs typeface="Times New Roman"/>
              </a:rPr>
              <a:t>WORK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PLAN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</a:t>
            </a:r>
            <a:r>
              <a:rPr sz="1200" spc="-25" dirty="0">
                <a:latin typeface="Times New Roman"/>
                <a:cs typeface="Times New Roman"/>
              </a:rPr>
              <a:t> 11</a:t>
            </a:r>
            <a:endParaRPr sz="12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317500" algn="l"/>
              </a:tabLst>
            </a:pPr>
            <a:r>
              <a:rPr sz="1200" b="1" dirty="0">
                <a:latin typeface="Times New Roman"/>
                <a:cs typeface="Times New Roman"/>
              </a:rPr>
              <a:t>BUDGET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...........................................................................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1579"/>
            <a:ext cx="4098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REFERENCES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..........................................................................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13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50" dirty="0"/>
              <a:t> </a:t>
            </a:r>
            <a:r>
              <a:rPr spc="-10" dirty="0"/>
              <a:t>PROPOSAL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699" y="1388441"/>
            <a:ext cx="5954395" cy="741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40435">
              <a:lnSpc>
                <a:spcPct val="117000"/>
              </a:lnSpc>
              <a:spcBef>
                <a:spcPts val="100"/>
              </a:spcBef>
            </a:pP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TITLE:</a:t>
            </a:r>
            <a:r>
              <a:rPr sz="1300" spc="-35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DESIGN</a:t>
            </a:r>
            <a:r>
              <a:rPr sz="1300" spc="-3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DEVELOPMENT</a:t>
            </a:r>
            <a:r>
              <a:rPr sz="1300" spc="-3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OF</a:t>
            </a:r>
            <a:r>
              <a:rPr sz="1300" spc="-3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RENTAL</a:t>
            </a:r>
            <a:r>
              <a:rPr sz="1300" spc="-3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HOUSE</a:t>
            </a:r>
            <a:r>
              <a:rPr sz="1300" spc="-3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VACANCY</a:t>
            </a:r>
            <a:r>
              <a:rPr sz="1300" spc="-35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FINDER MANAGEMENT</a:t>
            </a:r>
            <a:r>
              <a:rPr sz="1300" spc="2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SYSTEM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BY:</a:t>
            </a:r>
            <a:r>
              <a:rPr sz="1200" spc="-3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LEON</a:t>
            </a:r>
            <a:r>
              <a:rPr sz="1200" spc="-3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WHITAKER</a:t>
            </a:r>
            <a:endParaRPr sz="1200">
              <a:latin typeface="Calibri"/>
              <a:cs typeface="Calibri"/>
            </a:endParaRPr>
          </a:p>
          <a:p>
            <a:pPr marL="259079" indent="-246379">
              <a:lnSpc>
                <a:spcPct val="100000"/>
              </a:lnSpc>
              <a:spcBef>
                <a:spcPts val="439"/>
              </a:spcBef>
              <a:buAutoNum type="arabicPeriod"/>
              <a:tabLst>
                <a:tab pos="259079" algn="l"/>
              </a:tabLst>
            </a:pP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INTRODUCTION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2E5396"/>
              </a:buClr>
              <a:buFont typeface="Calibri"/>
              <a:buAutoNum type="arabicPeriod"/>
            </a:pPr>
            <a:endParaRPr sz="1300">
              <a:latin typeface="Calibri"/>
              <a:cs typeface="Calibri"/>
            </a:endParaRPr>
          </a:p>
          <a:p>
            <a:pPr marL="12700" marR="1651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Finding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challenge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especially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forced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another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looking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vacant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advertised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"VACANT"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gates,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walls,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buildings,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known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caretakers,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brokers.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3975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time-</a:t>
            </a:r>
            <a:r>
              <a:rPr sz="1200" dirty="0">
                <a:latin typeface="Times New Roman"/>
                <a:cs typeface="Times New Roman"/>
              </a:rPr>
              <a:t>consuming,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expensive,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inconvenient.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Tenants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several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days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price, </a:t>
            </a:r>
            <a:r>
              <a:rPr sz="1200" dirty="0">
                <a:latin typeface="Times New Roman"/>
                <a:cs typeface="Times New Roman"/>
              </a:rPr>
              <a:t>condition,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amenities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Rental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House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Vacancy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Finder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Management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web-based </a:t>
            </a:r>
            <a:r>
              <a:rPr sz="1200" dirty="0">
                <a:latin typeface="Times New Roman"/>
                <a:cs typeface="Times New Roman"/>
              </a:rPr>
              <a:t>platform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price.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photos,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amenities,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32080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purpose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therefore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help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people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vacant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rental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houses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quickly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easily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while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helping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landlords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reach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potential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tenants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without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relying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heavily</a:t>
            </a:r>
            <a:r>
              <a:rPr sz="1200" b="1" spc="-25" dirty="0">
                <a:latin typeface="Times New Roman"/>
                <a:cs typeface="Times New Roman"/>
              </a:rPr>
              <a:t> on </a:t>
            </a:r>
            <a:r>
              <a:rPr sz="1200" b="1" spc="-10" dirty="0">
                <a:latin typeface="Times New Roman"/>
                <a:cs typeface="Times New Roman"/>
              </a:rPr>
              <a:t>brokers.</a:t>
            </a:r>
            <a:endParaRPr sz="12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20"/>
              </a:spcBef>
              <a:buAutoNum type="arabicPeriod" startAt="2"/>
              <a:tabLst>
                <a:tab pos="259079" algn="l"/>
              </a:tabLst>
            </a:pP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PROBLEM</a:t>
            </a:r>
            <a:r>
              <a:rPr sz="1300" spc="-6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STATEMENT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2E5396"/>
              </a:buClr>
              <a:buFont typeface="Calibri"/>
              <a:buAutoNum type="arabicPeriod" startAt="2"/>
            </a:pPr>
            <a:endParaRPr sz="1300">
              <a:latin typeface="Calibri"/>
              <a:cs typeface="Calibri"/>
            </a:endParaRPr>
          </a:p>
          <a:p>
            <a:pPr marL="12700" marR="7937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Currently,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physical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mouth, </a:t>
            </a:r>
            <a:r>
              <a:rPr sz="1200" dirty="0">
                <a:latin typeface="Times New Roman"/>
                <a:cs typeface="Times New Roman"/>
              </a:rPr>
              <a:t>caretakers,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brokers.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difficult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which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located.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include:</a:t>
            </a:r>
            <a:endParaRPr sz="1200">
              <a:latin typeface="Times New Roman"/>
              <a:cs typeface="Times New Roman"/>
            </a:endParaRPr>
          </a:p>
          <a:p>
            <a:pPr marL="469265" lvl="1" indent="-228600">
              <a:lnSpc>
                <a:spcPts val="1410"/>
              </a:lnSpc>
              <a:spcBef>
                <a:spcPts val="13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physically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469265" lvl="1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walk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distances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suitable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house.</a:t>
            </a:r>
            <a:endParaRPr sz="1200">
              <a:latin typeface="Times New Roman"/>
              <a:cs typeface="Times New Roman"/>
            </a:endParaRPr>
          </a:p>
          <a:p>
            <a:pPr marL="469265" lvl="1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Information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centralized.</a:t>
            </a:r>
            <a:endParaRPr sz="1200">
              <a:latin typeface="Times New Roman"/>
              <a:cs typeface="Times New Roman"/>
            </a:endParaRPr>
          </a:p>
          <a:p>
            <a:pPr marL="469265" marR="210820" lvl="1" indent="-228600">
              <a:lnSpc>
                <a:spcPts val="1380"/>
              </a:lnSpc>
              <a:spcBef>
                <a:spcPts val="65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often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amenities,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before visiting.</a:t>
            </a:r>
            <a:endParaRPr sz="1200">
              <a:latin typeface="Times New Roman"/>
              <a:cs typeface="Times New Roman"/>
            </a:endParaRPr>
          </a:p>
          <a:p>
            <a:pPr marL="469265" lvl="1" indent="-228600">
              <a:lnSpc>
                <a:spcPts val="1315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reaching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potential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tenants.</a:t>
            </a:r>
            <a:endParaRPr sz="1200">
              <a:latin typeface="Times New Roman"/>
              <a:cs typeface="Times New Roman"/>
            </a:endParaRPr>
          </a:p>
          <a:p>
            <a:pPr marL="469265" lvl="1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Brokers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commissions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landlords.</a:t>
            </a:r>
            <a:endParaRPr sz="1200">
              <a:latin typeface="Times New Roman"/>
              <a:cs typeface="Times New Roman"/>
            </a:endParaRPr>
          </a:p>
          <a:p>
            <a:pPr marL="469265" marR="139700" lvl="1" indent="-228600">
              <a:lnSpc>
                <a:spcPts val="1380"/>
              </a:lnSpc>
              <a:spcBef>
                <a:spcPts val="65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unoccupied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cannot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potential tenants.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699" y="891579"/>
            <a:ext cx="5928995" cy="82169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22225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Therefore,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centralized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b="1" dirty="0">
                <a:latin typeface="Times New Roman"/>
                <a:cs typeface="Times New Roman"/>
              </a:rPr>
              <a:t>search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vacant </a:t>
            </a:r>
            <a:r>
              <a:rPr sz="1200" b="1" dirty="0">
                <a:latin typeface="Times New Roman"/>
                <a:cs typeface="Times New Roman"/>
              </a:rPr>
              <a:t>rental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houses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online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advertise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259079" lvl="1" indent="-246379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259079" algn="l"/>
              </a:tabLst>
            </a:pP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OBJECTIVES</a:t>
            </a:r>
            <a:endParaRPr sz="1300">
              <a:latin typeface="Calibri"/>
              <a:cs typeface="Calibri"/>
            </a:endParaRPr>
          </a:p>
          <a:p>
            <a:pPr marL="238760" lvl="1" indent="-22606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238760" algn="l"/>
              </a:tabLst>
            </a:pP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General</a:t>
            </a:r>
            <a:r>
              <a:rPr sz="1200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Objective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4"/>
              </a:spcBef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12700" marR="27495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that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requirements.</a:t>
            </a:r>
            <a:endParaRPr sz="1200">
              <a:latin typeface="Times New Roman"/>
              <a:cs typeface="Times New Roman"/>
            </a:endParaRPr>
          </a:p>
          <a:p>
            <a:pPr marL="238760" lvl="1" indent="-226060">
              <a:lnSpc>
                <a:spcPct val="100000"/>
              </a:lnSpc>
              <a:spcBef>
                <a:spcPts val="1325"/>
              </a:spcBef>
              <a:buAutoNum type="arabicPeriod" startAt="2"/>
              <a:tabLst>
                <a:tab pos="238760" algn="l"/>
              </a:tabLst>
            </a:pP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Specific</a:t>
            </a:r>
            <a:r>
              <a:rPr sz="1200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Objectives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5"/>
              </a:spcBef>
              <a:buAutoNum type="arabicPeriod" startAt="2"/>
            </a:pPr>
            <a:endParaRPr sz="1200">
              <a:latin typeface="Calibri"/>
              <a:cs typeface="Calibri"/>
            </a:endParaRPr>
          </a:p>
          <a:p>
            <a:pPr marL="469265" lvl="2" indent="-228600">
              <a:lnSpc>
                <a:spcPts val="1410"/>
              </a:lnSpc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challenges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centralized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advertise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469265" marR="231775" lvl="2" indent="-228600">
              <a:lnSpc>
                <a:spcPts val="1380"/>
              </a:lnSpc>
              <a:spcBef>
                <a:spcPts val="7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rental price.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15"/>
              </a:lnSpc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upload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photos,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descriptions,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amenities,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location.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inquiries.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viewing.</a:t>
            </a:r>
            <a:endParaRPr sz="1200">
              <a:latin typeface="Times New Roman"/>
              <a:cs typeface="Times New Roman"/>
            </a:endParaRPr>
          </a:p>
          <a:p>
            <a:pPr marL="469265" marR="5080" lvl="2" indent="-228600">
              <a:lnSpc>
                <a:spcPts val="1380"/>
              </a:lnSpc>
              <a:spcBef>
                <a:spcPts val="6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availability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Vacant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Occupied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rented.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45"/>
              </a:lnSpc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administrator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listings.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4.0</a:t>
            </a:r>
            <a:r>
              <a:rPr sz="1300" spc="-35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SCOPE</a:t>
            </a:r>
            <a:r>
              <a:rPr sz="1300" spc="-3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OF</a:t>
            </a:r>
            <a:r>
              <a:rPr sz="1300" spc="-3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PROJECT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4.1</a:t>
            </a:r>
            <a:r>
              <a:rPr sz="1200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In</a:t>
            </a:r>
            <a:r>
              <a:rPr sz="1200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Scope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410"/>
              </a:lnSpc>
              <a:spcBef>
                <a:spcPts val="13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Tenant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registration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login.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Landlord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registration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login.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Admin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Posting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Uploading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multiple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images.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Adding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location.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Adding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Single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Room,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Bedsitter,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Bedroom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Bedroom.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Adding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monthly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price.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Adding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10" dirty="0">
                <a:latin typeface="Times New Roman"/>
                <a:cs typeface="Times New Roman"/>
              </a:rPr>
              <a:t> descriptions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amenities.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Searching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Filtering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price.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Viewing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photos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details.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Viewing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contact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Requesting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viewing.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Updating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Occupied.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Admin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approval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listings.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Generating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vacancy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4407"/>
            <a:ext cx="3966210" cy="818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4.2</a:t>
            </a:r>
            <a:r>
              <a:rPr sz="1200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Out</a:t>
            </a:r>
            <a:r>
              <a:rPr sz="1200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of</a:t>
            </a:r>
            <a:r>
              <a:rPr sz="1200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Scope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version: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410"/>
              </a:lnSpc>
              <a:spcBef>
                <a:spcPts val="13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M-</a:t>
            </a:r>
            <a:r>
              <a:rPr sz="1200" dirty="0">
                <a:latin typeface="Times New Roman"/>
                <a:cs typeface="Times New Roman"/>
              </a:rPr>
              <a:t>Pesa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integration.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GPS/live </a:t>
            </a:r>
            <a:r>
              <a:rPr sz="1200" dirty="0">
                <a:latin typeface="Times New Roman"/>
                <a:cs typeface="Times New Roman"/>
              </a:rPr>
              <a:t>map</a:t>
            </a:r>
            <a:r>
              <a:rPr sz="1200" spc="-10" dirty="0">
                <a:latin typeface="Times New Roman"/>
                <a:cs typeface="Times New Roman"/>
              </a:rPr>
              <a:t> tracking.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Property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buying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selling.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considered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improvements.</a:t>
            </a:r>
            <a:endParaRPr sz="1200">
              <a:latin typeface="Times New Roman"/>
              <a:cs typeface="Times New Roman"/>
            </a:endParaRPr>
          </a:p>
          <a:p>
            <a:pPr marL="259079" lvl="1" indent="-246379">
              <a:lnSpc>
                <a:spcPct val="100000"/>
              </a:lnSpc>
              <a:spcBef>
                <a:spcPts val="1360"/>
              </a:spcBef>
              <a:buAutoNum type="arabicPeriod"/>
              <a:tabLst>
                <a:tab pos="259079" algn="l"/>
              </a:tabLst>
            </a:pP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SYSTEM</a:t>
            </a:r>
            <a:r>
              <a:rPr sz="1300" spc="-7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E5396"/>
                </a:solidFill>
                <a:latin typeface="Calibri"/>
                <a:cs typeface="Calibri"/>
              </a:rPr>
              <a:t>USERS</a:t>
            </a:r>
            <a:endParaRPr sz="1300">
              <a:latin typeface="Calibri"/>
              <a:cs typeface="Calibri"/>
            </a:endParaRPr>
          </a:p>
          <a:p>
            <a:pPr marL="238760" lvl="1" indent="-22606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238760" algn="l"/>
              </a:tabLst>
            </a:pP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Tenant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5"/>
              </a:spcBef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to: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spcBef>
                <a:spcPts val="13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</a:t>
            </a:r>
            <a:r>
              <a:rPr sz="1200" spc="-25" dirty="0">
                <a:latin typeface="Times New Roman"/>
                <a:cs typeface="Times New Roman"/>
              </a:rPr>
              <a:t> in.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Search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Filter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according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preferences.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photos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details.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prices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amenities.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Contact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landlord.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viewing.</a:t>
            </a:r>
            <a:endParaRPr sz="1200">
              <a:latin typeface="Times New Roman"/>
              <a:cs typeface="Times New Roman"/>
            </a:endParaRPr>
          </a:p>
          <a:p>
            <a:pPr marL="238760" lvl="1" indent="-226060">
              <a:lnSpc>
                <a:spcPct val="100000"/>
              </a:lnSpc>
              <a:spcBef>
                <a:spcPts val="1360"/>
              </a:spcBef>
              <a:buAutoNum type="arabicPeriod" startAt="2"/>
              <a:tabLst>
                <a:tab pos="238760" algn="l"/>
              </a:tabLst>
            </a:pP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Landlord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60"/>
              </a:spcBef>
              <a:buAutoNum type="arabicPeriod" startAt="2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to: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spcBef>
                <a:spcPts val="13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</a:t>
            </a:r>
            <a:r>
              <a:rPr sz="1200" spc="-25" dirty="0">
                <a:latin typeface="Times New Roman"/>
                <a:cs typeface="Times New Roman"/>
              </a:rPr>
              <a:t> in.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Add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Upload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photos.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Enter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amenities.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Edit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listings.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inquiries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Change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occupied.</a:t>
            </a:r>
            <a:endParaRPr sz="1200">
              <a:latin typeface="Times New Roman"/>
              <a:cs typeface="Times New Roman"/>
            </a:endParaRPr>
          </a:p>
          <a:p>
            <a:pPr marL="238760" lvl="1" indent="-226060">
              <a:lnSpc>
                <a:spcPct val="100000"/>
              </a:lnSpc>
              <a:spcBef>
                <a:spcPts val="1360"/>
              </a:spcBef>
              <a:buAutoNum type="arabicPeriod" startAt="3"/>
              <a:tabLst>
                <a:tab pos="238760" algn="l"/>
              </a:tabLst>
            </a:pP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Admin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60"/>
              </a:spcBef>
              <a:buAutoNum type="arabicPeriod" startAt="3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administrator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to: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spcBef>
                <a:spcPts val="13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Approve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reject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listings.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Remove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inappropriate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listings.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1579"/>
            <a:ext cx="5928995" cy="81635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228600">
              <a:lnSpc>
                <a:spcPts val="1410"/>
              </a:lnSpc>
              <a:spcBef>
                <a:spcPts val="10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Monitor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activities.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Generate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reports.</a:t>
            </a:r>
            <a:endParaRPr sz="1200">
              <a:latin typeface="Times New Roman"/>
              <a:cs typeface="Times New Roman"/>
            </a:endParaRPr>
          </a:p>
          <a:p>
            <a:pPr marL="259079" lvl="1" indent="-246379">
              <a:lnSpc>
                <a:spcPct val="100000"/>
              </a:lnSpc>
              <a:spcBef>
                <a:spcPts val="1355"/>
              </a:spcBef>
              <a:buAutoNum type="arabicPeriod"/>
              <a:tabLst>
                <a:tab pos="259079" algn="l"/>
              </a:tabLst>
            </a:pP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SYSTEM</a:t>
            </a:r>
            <a:r>
              <a:rPr sz="1300" spc="-7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REQUIREMENTS</a:t>
            </a:r>
            <a:endParaRPr sz="1300">
              <a:latin typeface="Calibri"/>
              <a:cs typeface="Calibri"/>
            </a:endParaRPr>
          </a:p>
          <a:p>
            <a:pPr marL="238760" lvl="1" indent="-22606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238760" algn="l"/>
              </a:tabLst>
            </a:pP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Functional</a:t>
            </a:r>
            <a:r>
              <a:rPr sz="1200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Requirements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5"/>
              </a:spcBef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shall: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spcBef>
                <a:spcPts val="1340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</a:t>
            </a:r>
            <a:r>
              <a:rPr sz="1200" spc="-25" dirty="0">
                <a:latin typeface="Times New Roman"/>
                <a:cs typeface="Times New Roman"/>
              </a:rPr>
              <a:t> in.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listings.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upload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images.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photos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contact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viewing.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availability.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administrators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listings.</a:t>
            </a:r>
            <a:endParaRPr sz="1200">
              <a:latin typeface="Times New Roman"/>
              <a:cs typeface="Times New Roman"/>
            </a:endParaRPr>
          </a:p>
          <a:p>
            <a:pPr marL="238760" lvl="1" indent="-226060">
              <a:lnSpc>
                <a:spcPct val="100000"/>
              </a:lnSpc>
              <a:spcBef>
                <a:spcPts val="1360"/>
              </a:spcBef>
              <a:buAutoNum type="arabicPeriod" startAt="2"/>
              <a:tabLst>
                <a:tab pos="238760" algn="l"/>
              </a:tabLst>
            </a:pP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Non-</a:t>
            </a: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Functional</a:t>
            </a:r>
            <a:r>
              <a:rPr sz="1200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Requirements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5"/>
              </a:spcBef>
              <a:buAutoNum type="arabicPeriod" startAt="2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should: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spcBef>
                <a:spcPts val="1335"/>
              </a:spcBef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mobile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responsive.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Secure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passwords.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Protect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whenever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25" dirty="0">
                <a:latin typeface="Times New Roman"/>
                <a:cs typeface="Times New Roman"/>
              </a:rPr>
              <a:t> it.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7.0</a:t>
            </a:r>
            <a:r>
              <a:rPr sz="1300" spc="-25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METHODOLOGY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00">
              <a:latin typeface="Calibri"/>
              <a:cs typeface="Calibri"/>
            </a:endParaRPr>
          </a:p>
          <a:p>
            <a:pPr marL="12700" marR="29781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Agile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development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methodology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stages,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continuous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throughout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 process.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questionnaires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interviews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potential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landlords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challenges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advertising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410"/>
              </a:lnSpc>
              <a:spcBef>
                <a:spcPts val="1340"/>
              </a:spcBef>
              <a:buAutoNum type="arabicPeriod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Requirements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gathering.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410"/>
              </a:lnSpc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1579"/>
            <a:ext cx="3434079" cy="7612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228600">
              <a:lnSpc>
                <a:spcPts val="1410"/>
              </a:lnSpc>
              <a:spcBef>
                <a:spcPts val="100"/>
              </a:spcBef>
              <a:buAutoNum type="arabicPeriod" startAt="3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AutoNum type="arabicPeriod" startAt="3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AutoNum type="arabicPeriod" startAt="3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AutoNum type="arabicPeriod" startAt="3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Testing.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AutoNum type="arabicPeriod" startAt="3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Implementation.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410"/>
              </a:lnSpc>
              <a:buAutoNum type="arabicPeriod" startAt="3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Documentation.</a:t>
            </a:r>
            <a:endParaRPr sz="12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55"/>
              </a:spcBef>
              <a:buAutoNum type="arabicPeriod" startAt="8"/>
              <a:tabLst>
                <a:tab pos="259079" algn="l"/>
              </a:tabLst>
            </a:pP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TECHNOLOGY</a:t>
            </a:r>
            <a:r>
              <a:rPr sz="1300" spc="-15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STACK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2E5396"/>
              </a:buClr>
              <a:buFont typeface="Calibri"/>
              <a:buAutoNum type="arabicPeriod" startAt="8"/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Frontend: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Bootstrap,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  <a:p>
            <a:pPr marL="12700" marR="1474470">
              <a:lnSpc>
                <a:spcPct val="193000"/>
              </a:lnSpc>
            </a:pPr>
            <a:r>
              <a:rPr sz="1200" b="1" dirty="0">
                <a:latin typeface="Times New Roman"/>
                <a:cs typeface="Times New Roman"/>
              </a:rPr>
              <a:t>Backend: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10" dirty="0">
                <a:latin typeface="Times New Roman"/>
                <a:cs typeface="Times New Roman"/>
              </a:rPr>
              <a:t> Laravel </a:t>
            </a:r>
            <a:r>
              <a:rPr sz="1200" b="1" dirty="0">
                <a:latin typeface="Times New Roman"/>
                <a:cs typeface="Times New Roman"/>
              </a:rPr>
              <a:t>Database: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MySQL </a:t>
            </a:r>
            <a:r>
              <a:rPr sz="1200" b="1" spc="-10" dirty="0">
                <a:latin typeface="Times New Roman"/>
                <a:cs typeface="Times New Roman"/>
              </a:rPr>
              <a:t>Development </a:t>
            </a:r>
            <a:r>
              <a:rPr sz="1200" b="1" dirty="0">
                <a:latin typeface="Times New Roman"/>
                <a:cs typeface="Times New Roman"/>
              </a:rPr>
              <a:t>Server: </a:t>
            </a:r>
            <a:r>
              <a:rPr sz="1200" spc="-10" dirty="0">
                <a:latin typeface="Times New Roman"/>
                <a:cs typeface="Times New Roman"/>
              </a:rPr>
              <a:t>XAMPP</a:t>
            </a:r>
            <a:endParaRPr sz="12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60"/>
              </a:spcBef>
              <a:buAutoNum type="arabicPeriod" startAt="9"/>
              <a:tabLst>
                <a:tab pos="259079" algn="l"/>
              </a:tabLst>
            </a:pP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DATABASE DESIGN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2E5396"/>
              </a:buClr>
              <a:buFont typeface="Calibri"/>
              <a:buAutoNum type="arabicPeriod" startAt="9"/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tables:</a:t>
            </a:r>
            <a:endParaRPr sz="1200">
              <a:latin typeface="Times New Roman"/>
              <a:cs typeface="Times New Roman"/>
            </a:endParaRPr>
          </a:p>
          <a:p>
            <a:pPr marL="238760" lvl="1" indent="-226060">
              <a:lnSpc>
                <a:spcPct val="100000"/>
              </a:lnSpc>
              <a:spcBef>
                <a:spcPts val="1360"/>
              </a:spcBef>
              <a:buAutoNum type="arabicPeriod"/>
              <a:tabLst>
                <a:tab pos="238760" algn="l"/>
              </a:tabLst>
            </a:pP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Users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60"/>
              </a:spcBef>
              <a:buClr>
                <a:srgbClr val="1F3864"/>
              </a:buClr>
              <a:buFont typeface="Calibri"/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469265" lvl="2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user_id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full_name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phone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20" dirty="0">
                <a:latin typeface="Times New Roman"/>
                <a:cs typeface="Times New Roman"/>
              </a:rPr>
              <a:t>email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20" dirty="0">
                <a:latin typeface="Times New Roman"/>
                <a:cs typeface="Times New Roman"/>
              </a:rPr>
              <a:t>role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password</a:t>
            </a:r>
            <a:endParaRPr sz="1200">
              <a:latin typeface="Times New Roman"/>
              <a:cs typeface="Times New Roman"/>
            </a:endParaRPr>
          </a:p>
          <a:p>
            <a:pPr marL="238760" lvl="1" indent="-226060">
              <a:lnSpc>
                <a:spcPct val="100000"/>
              </a:lnSpc>
              <a:spcBef>
                <a:spcPts val="1360"/>
              </a:spcBef>
              <a:buAutoNum type="arabicPeriod"/>
              <a:tabLst>
                <a:tab pos="238760" algn="l"/>
              </a:tabLst>
            </a:pP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Houses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60"/>
              </a:spcBef>
              <a:buClr>
                <a:srgbClr val="1F3864"/>
              </a:buClr>
              <a:buFont typeface="Calibri"/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469265" lvl="2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house_id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landlord_id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title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location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house_type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20" dirty="0">
                <a:latin typeface="Times New Roman"/>
                <a:cs typeface="Times New Roman"/>
              </a:rPr>
              <a:t>rent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description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amenities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status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date_posted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4407"/>
            <a:ext cx="5924550" cy="6183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9.3</a:t>
            </a:r>
            <a:r>
              <a:rPr sz="1200" spc="-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House</a:t>
            </a:r>
            <a:r>
              <a:rPr sz="1200" spc="-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Images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Calibri"/>
              <a:cs typeface="Calibri"/>
            </a:endParaRPr>
          </a:p>
          <a:p>
            <a:pPr marL="469265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image_id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house_id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image_path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200" dirty="0">
                <a:solidFill>
                  <a:srgbClr val="1F3864"/>
                </a:solidFill>
                <a:latin typeface="Calibri"/>
                <a:cs typeface="Calibri"/>
              </a:rPr>
              <a:t>9.4</a:t>
            </a:r>
            <a:r>
              <a:rPr sz="1200" spc="-3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3864"/>
                </a:solidFill>
                <a:latin typeface="Calibri"/>
                <a:cs typeface="Calibri"/>
              </a:rPr>
              <a:t>Bookings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Calibri"/>
              <a:cs typeface="Calibri"/>
            </a:endParaRPr>
          </a:p>
          <a:p>
            <a:pPr marL="469265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booking_id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house_id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tenant_id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booking_date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38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message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ts val="1410"/>
              </a:lnSpc>
              <a:buSzPct val="83333"/>
              <a:buFont typeface="Arial MT"/>
              <a:buChar char="•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status</a:t>
            </a:r>
            <a:endParaRPr sz="1200">
              <a:latin typeface="Times New Roman"/>
              <a:cs typeface="Times New Roman"/>
            </a:endParaRPr>
          </a:p>
          <a:p>
            <a:pPr marL="342265" indent="-329565">
              <a:lnSpc>
                <a:spcPct val="100000"/>
              </a:lnSpc>
              <a:spcBef>
                <a:spcPts val="1360"/>
              </a:spcBef>
              <a:buAutoNum type="arabicPeriod" startAt="10"/>
              <a:tabLst>
                <a:tab pos="342265" algn="l"/>
              </a:tabLst>
            </a:pP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EXPECTED OUTCOME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2E5396"/>
              </a:buClr>
              <a:buFont typeface="Calibri"/>
              <a:buAutoNum type="arabicPeriod" startAt="10"/>
            </a:pPr>
            <a:endParaRPr sz="1300">
              <a:latin typeface="Calibri"/>
              <a:cs typeface="Calibri"/>
            </a:endParaRPr>
          </a:p>
          <a:p>
            <a:pPr marL="12700" marR="20002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easier</a:t>
            </a:r>
            <a:r>
              <a:rPr sz="1200" spc="-25" dirty="0">
                <a:latin typeface="Times New Roman"/>
                <a:cs typeface="Times New Roman"/>
              </a:rPr>
              <a:t> for </a:t>
            </a: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vacant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rental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houses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example,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looking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Bedroom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house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costing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10,000–15,000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specific </a:t>
            </a:r>
            <a:r>
              <a:rPr sz="1200" b="1" dirty="0">
                <a:latin typeface="Times New Roman"/>
                <a:cs typeface="Times New Roman"/>
              </a:rPr>
              <a:t>location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requirements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matching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houses.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065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photos,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price,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amenities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landlord </a:t>
            </a:r>
            <a:r>
              <a:rPr sz="1200" dirty="0">
                <a:latin typeface="Times New Roman"/>
                <a:cs typeface="Times New Roman"/>
              </a:rPr>
              <a:t>contact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whether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viewing.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1272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therefore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physically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rental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advertise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properties.</a:t>
            </a:r>
            <a:endParaRPr sz="1200">
              <a:latin typeface="Times New Roman"/>
              <a:cs typeface="Times New Roman"/>
            </a:endParaRPr>
          </a:p>
          <a:p>
            <a:pPr marL="342265" indent="-329565">
              <a:lnSpc>
                <a:spcPct val="100000"/>
              </a:lnSpc>
              <a:spcBef>
                <a:spcPts val="1320"/>
              </a:spcBef>
              <a:buAutoNum type="arabicPeriod" startAt="11"/>
              <a:tabLst>
                <a:tab pos="342265" algn="l"/>
              </a:tabLst>
            </a:pP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WORK</a:t>
            </a:r>
            <a:r>
              <a:rPr sz="1300" spc="-4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E5396"/>
                </a:solidFill>
                <a:latin typeface="Calibri"/>
                <a:cs typeface="Calibri"/>
              </a:rPr>
              <a:t>PLAN</a:t>
            </a:r>
            <a:endParaRPr sz="1300">
              <a:latin typeface="Calibri"/>
              <a:cs typeface="Calibri"/>
            </a:endParaRPr>
          </a:p>
          <a:p>
            <a:pPr marL="1107440">
              <a:lnSpc>
                <a:spcPct val="100000"/>
              </a:lnSpc>
              <a:spcBef>
                <a:spcPts val="475"/>
              </a:spcBef>
              <a:tabLst>
                <a:tab pos="274256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Activity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10" dirty="0">
                <a:latin typeface="Times New Roman"/>
                <a:cs typeface="Times New Roman"/>
              </a:rPr>
              <a:t>Duration</a:t>
            </a:r>
            <a:endParaRPr sz="12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944"/>
              </a:spcBef>
            </a:pPr>
            <a:r>
              <a:rPr sz="1200" spc="-10" dirty="0">
                <a:latin typeface="Times New Roman"/>
                <a:cs typeface="Times New Roman"/>
              </a:rPr>
              <a:t>Requirements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gathering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Week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0275" y="7172484"/>
            <a:ext cx="2263775" cy="142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proposal</a:t>
            </a:r>
            <a:endParaRPr sz="1200">
              <a:latin typeface="Times New Roman"/>
              <a:cs typeface="Times New Roman"/>
            </a:endParaRPr>
          </a:p>
          <a:p>
            <a:pPr marL="12700" marR="529590">
              <a:lnSpc>
                <a:spcPct val="165800"/>
              </a:lnSpc>
            </a:pP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debugging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200" spc="-10" dirty="0">
                <a:latin typeface="Times New Roman"/>
                <a:cs typeface="Times New Roman"/>
              </a:rPr>
              <a:t>Documentation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-10" dirty="0">
                <a:latin typeface="Times New Roman"/>
                <a:cs typeface="Times New Roman"/>
              </a:rPr>
              <a:t> submission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17504" y="7172484"/>
            <a:ext cx="647700" cy="142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Week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200" dirty="0">
                <a:latin typeface="Times New Roman"/>
                <a:cs typeface="Times New Roman"/>
              </a:rPr>
              <a:t>Week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200" dirty="0">
                <a:latin typeface="Times New Roman"/>
                <a:cs typeface="Times New Roman"/>
              </a:rPr>
              <a:t>Week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4–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>
                <a:latin typeface="Times New Roman"/>
                <a:cs typeface="Times New Roman"/>
              </a:rPr>
              <a:t>Week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200" dirty="0">
                <a:latin typeface="Times New Roman"/>
                <a:cs typeface="Times New Roman"/>
              </a:rPr>
              <a:t>Week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3799"/>
            <a:ext cx="9175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12.0</a:t>
            </a:r>
            <a:r>
              <a:rPr sz="1300" spc="-3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BUDGET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1225" y="1181254"/>
          <a:ext cx="3310254" cy="1379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5585">
                <a:tc>
                  <a:txBody>
                    <a:bodyPr/>
                    <a:lstStyle/>
                    <a:p>
                      <a:pPr marL="12700" algn="ctr">
                        <a:lnSpc>
                          <a:spcPts val="1310"/>
                        </a:lnSpc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Item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31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Estimated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(KES)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research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3,000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Printing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documentation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2,000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Hosting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domain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5,000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39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Total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60"/>
                        </a:lnSpc>
                        <a:spcBef>
                          <a:spcPts val="39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10,000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77898" y="2825774"/>
            <a:ext cx="2073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Kendall,</a:t>
            </a:r>
            <a:r>
              <a:rPr spc="-35" dirty="0"/>
              <a:t> </a:t>
            </a:r>
            <a:r>
              <a:rPr dirty="0"/>
              <a:t>K.</a:t>
            </a:r>
            <a:r>
              <a:rPr spc="-25" dirty="0"/>
              <a:t> </a:t>
            </a:r>
            <a:r>
              <a:rPr dirty="0"/>
              <a:t>E.,</a:t>
            </a:r>
            <a:r>
              <a:rPr spc="-2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Kendall,</a:t>
            </a:r>
            <a:r>
              <a:rPr spc="-20" dirty="0"/>
              <a:t> </a:t>
            </a:r>
            <a:r>
              <a:rPr dirty="0"/>
              <a:t>J.</a:t>
            </a:r>
            <a:r>
              <a:rPr spc="-25" dirty="0"/>
              <a:t> </a:t>
            </a:r>
            <a:r>
              <a:rPr dirty="0"/>
              <a:t>E.</a:t>
            </a:r>
            <a:r>
              <a:rPr spc="-25" dirty="0"/>
              <a:t> </a:t>
            </a:r>
            <a:r>
              <a:rPr dirty="0"/>
              <a:t>(2019).</a:t>
            </a:r>
            <a:r>
              <a:rPr spc="-20" dirty="0"/>
              <a:t> </a:t>
            </a:r>
            <a:r>
              <a:rPr i="1" dirty="0">
                <a:latin typeface="Times New Roman"/>
                <a:cs typeface="Times New Roman"/>
              </a:rPr>
              <a:t>Systems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Analysis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and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Design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dirty="0"/>
              <a:t>(10th</a:t>
            </a:r>
            <a:r>
              <a:rPr spc="-25" dirty="0"/>
              <a:t> </a:t>
            </a:r>
            <a:r>
              <a:rPr dirty="0"/>
              <a:t>ed.).</a:t>
            </a:r>
            <a:r>
              <a:rPr spc="-20" dirty="0"/>
              <a:t> </a:t>
            </a:r>
            <a:r>
              <a:rPr spc="-10" dirty="0"/>
              <a:t>Pearson.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pc="-10" dirty="0"/>
          </a:p>
          <a:p>
            <a:pPr marL="12700" marR="5080">
              <a:lnSpc>
                <a:spcPts val="1380"/>
              </a:lnSpc>
            </a:pPr>
            <a:r>
              <a:rPr dirty="0"/>
              <a:t>Laudon,</a:t>
            </a:r>
            <a:r>
              <a:rPr spc="-20" dirty="0"/>
              <a:t> </a:t>
            </a:r>
            <a:r>
              <a:rPr dirty="0"/>
              <a:t>K.</a:t>
            </a:r>
            <a:r>
              <a:rPr spc="-20" dirty="0"/>
              <a:t> </a:t>
            </a:r>
            <a:r>
              <a:rPr dirty="0"/>
              <a:t>C.,</a:t>
            </a:r>
            <a:r>
              <a:rPr spc="-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Laudon,</a:t>
            </a:r>
            <a:r>
              <a:rPr spc="-20" dirty="0"/>
              <a:t> </a:t>
            </a:r>
            <a:r>
              <a:rPr dirty="0"/>
              <a:t>J.</a:t>
            </a:r>
            <a:r>
              <a:rPr spc="-20" dirty="0"/>
              <a:t> </a:t>
            </a:r>
            <a:r>
              <a:rPr dirty="0"/>
              <a:t>P.</a:t>
            </a:r>
            <a:r>
              <a:rPr spc="-15" dirty="0"/>
              <a:t> </a:t>
            </a:r>
            <a:r>
              <a:rPr dirty="0"/>
              <a:t>(2022).</a:t>
            </a:r>
            <a:r>
              <a:rPr spc="-25" dirty="0"/>
              <a:t> </a:t>
            </a:r>
            <a:r>
              <a:rPr i="1" spc="-10" dirty="0">
                <a:latin typeface="Times New Roman"/>
                <a:cs typeface="Times New Roman"/>
              </a:rPr>
              <a:t>Management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Information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Systems: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Managing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the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i="1" spc="-10" dirty="0">
                <a:latin typeface="Times New Roman"/>
                <a:cs typeface="Times New Roman"/>
              </a:rPr>
              <a:t>Digital </a:t>
            </a:r>
            <a:r>
              <a:rPr i="1" dirty="0">
                <a:latin typeface="Times New Roman"/>
                <a:cs typeface="Times New Roman"/>
              </a:rPr>
              <a:t>Firm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dirty="0"/>
              <a:t>(17th</a:t>
            </a:r>
            <a:r>
              <a:rPr spc="-20" dirty="0"/>
              <a:t> </a:t>
            </a:r>
            <a:r>
              <a:rPr dirty="0"/>
              <a:t>ed.).</a:t>
            </a:r>
            <a:r>
              <a:rPr spc="-20" dirty="0"/>
              <a:t> </a:t>
            </a:r>
            <a:r>
              <a:rPr spc="-10" dirty="0"/>
              <a:t>Pearson.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pc="-10" dirty="0"/>
          </a:p>
          <a:p>
            <a:pPr marL="12700" marR="53975">
              <a:lnSpc>
                <a:spcPts val="1380"/>
              </a:lnSpc>
            </a:pPr>
            <a:r>
              <a:rPr dirty="0"/>
              <a:t>Pressman,</a:t>
            </a:r>
            <a:r>
              <a:rPr spc="-25" dirty="0"/>
              <a:t> </a:t>
            </a:r>
            <a:r>
              <a:rPr dirty="0"/>
              <a:t>R.</a:t>
            </a:r>
            <a:r>
              <a:rPr spc="-25" dirty="0"/>
              <a:t> </a:t>
            </a:r>
            <a:r>
              <a:rPr dirty="0"/>
              <a:t>S.,</a:t>
            </a:r>
            <a:r>
              <a:rPr spc="-2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Maxim,</a:t>
            </a:r>
            <a:r>
              <a:rPr spc="-20" dirty="0"/>
              <a:t> </a:t>
            </a:r>
            <a:r>
              <a:rPr dirty="0"/>
              <a:t>B.</a:t>
            </a:r>
            <a:r>
              <a:rPr spc="-25" dirty="0"/>
              <a:t> </a:t>
            </a:r>
            <a:r>
              <a:rPr dirty="0"/>
              <a:t>R.</a:t>
            </a:r>
            <a:r>
              <a:rPr spc="-25" dirty="0"/>
              <a:t> </a:t>
            </a:r>
            <a:r>
              <a:rPr dirty="0"/>
              <a:t>(2020).</a:t>
            </a:r>
            <a:r>
              <a:rPr spc="-15" dirty="0"/>
              <a:t> </a:t>
            </a:r>
            <a:r>
              <a:rPr i="1" dirty="0">
                <a:latin typeface="Times New Roman"/>
                <a:cs typeface="Times New Roman"/>
              </a:rPr>
              <a:t>Software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Engineering: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A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spc="-10" dirty="0">
                <a:latin typeface="Times New Roman"/>
                <a:cs typeface="Times New Roman"/>
              </a:rPr>
              <a:t>Practitioner's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Approach</a:t>
            </a:r>
            <a:r>
              <a:rPr i="1" spc="-5" dirty="0">
                <a:latin typeface="Times New Roman"/>
                <a:cs typeface="Times New Roman"/>
              </a:rPr>
              <a:t> </a:t>
            </a:r>
            <a:r>
              <a:rPr spc="-20" dirty="0"/>
              <a:t>(9th </a:t>
            </a:r>
            <a:r>
              <a:rPr dirty="0"/>
              <a:t>ed.).</a:t>
            </a:r>
            <a:r>
              <a:rPr spc="5" dirty="0"/>
              <a:t> </a:t>
            </a:r>
            <a:r>
              <a:rPr spc="-20" dirty="0"/>
              <a:t>McGraw-</a:t>
            </a:r>
            <a:r>
              <a:rPr dirty="0"/>
              <a:t>Hill</a:t>
            </a:r>
            <a:r>
              <a:rPr spc="5" dirty="0"/>
              <a:t> </a:t>
            </a:r>
            <a:r>
              <a:rPr spc="-10" dirty="0"/>
              <a:t>Education.</a:t>
            </a: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pc="-10" dirty="0"/>
              <a:t>Sommerville,</a:t>
            </a:r>
            <a:r>
              <a:rPr spc="-30" dirty="0"/>
              <a:t> </a:t>
            </a:r>
            <a:r>
              <a:rPr dirty="0"/>
              <a:t>I.</a:t>
            </a:r>
            <a:r>
              <a:rPr spc="-30" dirty="0"/>
              <a:t> </a:t>
            </a:r>
            <a:r>
              <a:rPr dirty="0"/>
              <a:t>(2016).</a:t>
            </a:r>
            <a:r>
              <a:rPr spc="-25" dirty="0"/>
              <a:t> </a:t>
            </a:r>
            <a:r>
              <a:rPr i="1" dirty="0">
                <a:latin typeface="Times New Roman"/>
                <a:cs typeface="Times New Roman"/>
              </a:rPr>
              <a:t>Software</a:t>
            </a:r>
            <a:r>
              <a:rPr i="1" spc="-3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Engineering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dirty="0"/>
              <a:t>(10th</a:t>
            </a:r>
            <a:r>
              <a:rPr spc="-30" dirty="0"/>
              <a:t> </a:t>
            </a:r>
            <a:r>
              <a:rPr dirty="0"/>
              <a:t>ed.).</a:t>
            </a:r>
            <a:r>
              <a:rPr spc="-30" dirty="0"/>
              <a:t> </a:t>
            </a:r>
            <a:r>
              <a:rPr spc="-10" dirty="0"/>
              <a:t>Pearson.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pc="-10" dirty="0"/>
          </a:p>
          <a:p>
            <a:pPr marL="12700" marR="265430">
              <a:lnSpc>
                <a:spcPts val="1380"/>
              </a:lnSpc>
            </a:pPr>
            <a:r>
              <a:rPr dirty="0"/>
              <a:t>Welling,</a:t>
            </a:r>
            <a:r>
              <a:rPr spc="-20" dirty="0"/>
              <a:t> </a:t>
            </a:r>
            <a:r>
              <a:rPr dirty="0"/>
              <a:t>L.,</a:t>
            </a:r>
            <a:r>
              <a:rPr spc="-20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dirty="0"/>
              <a:t>Thomson,</a:t>
            </a:r>
            <a:r>
              <a:rPr spc="-20" dirty="0"/>
              <a:t> </a:t>
            </a:r>
            <a:r>
              <a:rPr dirty="0"/>
              <a:t>L.</a:t>
            </a:r>
            <a:r>
              <a:rPr spc="-20" dirty="0"/>
              <a:t> </a:t>
            </a:r>
            <a:r>
              <a:rPr dirty="0"/>
              <a:t>(2017).</a:t>
            </a:r>
            <a:r>
              <a:rPr spc="-25" dirty="0"/>
              <a:t> </a:t>
            </a:r>
            <a:r>
              <a:rPr i="1" dirty="0">
                <a:latin typeface="Times New Roman"/>
                <a:cs typeface="Times New Roman"/>
              </a:rPr>
              <a:t>PHP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and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MySQL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Web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spc="-10" dirty="0">
                <a:latin typeface="Times New Roman"/>
                <a:cs typeface="Times New Roman"/>
              </a:rPr>
              <a:t>Development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dirty="0"/>
              <a:t>(5th</a:t>
            </a:r>
            <a:r>
              <a:rPr spc="-20" dirty="0"/>
              <a:t> </a:t>
            </a:r>
            <a:r>
              <a:rPr dirty="0"/>
              <a:t>ed.).</a:t>
            </a:r>
            <a:r>
              <a:rPr spc="-20" dirty="0"/>
              <a:t> </a:t>
            </a:r>
            <a:r>
              <a:rPr spc="-10" dirty="0"/>
              <a:t>Addison-</a:t>
            </a:r>
            <a:r>
              <a:rPr dirty="0"/>
              <a:t>Wesley</a:t>
            </a:r>
            <a:r>
              <a:rPr spc="-45" dirty="0"/>
              <a:t> </a:t>
            </a:r>
            <a:r>
              <a:rPr spc="-10" dirty="0"/>
              <a:t>Professional.</a:t>
            </a: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/>
              <a:t>Laravel.</a:t>
            </a:r>
            <a:r>
              <a:rPr spc="-25" dirty="0"/>
              <a:t> </a:t>
            </a:r>
            <a:r>
              <a:rPr dirty="0"/>
              <a:t>(2026).</a:t>
            </a:r>
            <a:r>
              <a:rPr spc="-25" dirty="0"/>
              <a:t> </a:t>
            </a:r>
            <a:r>
              <a:rPr i="1" dirty="0">
                <a:latin typeface="Times New Roman"/>
                <a:cs typeface="Times New Roman"/>
              </a:rPr>
              <a:t>Laravel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spc="-10" dirty="0">
                <a:latin typeface="Times New Roman"/>
                <a:cs typeface="Times New Roman"/>
              </a:rPr>
              <a:t>documentation</a:t>
            </a:r>
            <a:r>
              <a:rPr spc="-10" dirty="0"/>
              <a:t>.</a:t>
            </a:r>
            <a:r>
              <a:rPr spc="-25" dirty="0"/>
              <a:t> </a:t>
            </a:r>
            <a:r>
              <a:rPr dirty="0"/>
              <a:t>Laravel.</a:t>
            </a:r>
            <a:r>
              <a:rPr spc="-20" dirty="0"/>
              <a:t> </a:t>
            </a:r>
            <a:r>
              <a:rPr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https://laravel.com/docs</a:t>
            </a:r>
          </a:p>
          <a:p>
            <a:pPr marL="12700" marR="64769">
              <a:lnSpc>
                <a:spcPct val="193000"/>
              </a:lnSpc>
            </a:pPr>
            <a:r>
              <a:rPr dirty="0"/>
              <a:t>MySQL.</a:t>
            </a:r>
            <a:r>
              <a:rPr spc="-40" dirty="0"/>
              <a:t> </a:t>
            </a:r>
            <a:r>
              <a:rPr dirty="0"/>
              <a:t>(2026).</a:t>
            </a:r>
            <a:r>
              <a:rPr spc="-40" dirty="0"/>
              <a:t> </a:t>
            </a:r>
            <a:r>
              <a:rPr i="1" dirty="0">
                <a:latin typeface="Times New Roman"/>
                <a:cs typeface="Times New Roman"/>
              </a:rPr>
              <a:t>MySQL</a:t>
            </a:r>
            <a:r>
              <a:rPr i="1" spc="-4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8.0</a:t>
            </a:r>
            <a:r>
              <a:rPr i="1" spc="-3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reference</a:t>
            </a:r>
            <a:r>
              <a:rPr i="1" spc="-4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manual</a:t>
            </a:r>
            <a:r>
              <a:rPr dirty="0"/>
              <a:t>.</a:t>
            </a:r>
            <a:r>
              <a:rPr spc="-40" dirty="0"/>
              <a:t> </a:t>
            </a:r>
            <a:r>
              <a:rPr dirty="0"/>
              <a:t>Oracle</a:t>
            </a:r>
            <a:r>
              <a:rPr spc="-35" dirty="0"/>
              <a:t> </a:t>
            </a:r>
            <a:r>
              <a:rPr dirty="0"/>
              <a:t>Corporation.</a:t>
            </a:r>
            <a:r>
              <a:rPr spc="-35" dirty="0"/>
              <a:t> </a:t>
            </a:r>
            <a:r>
              <a:rPr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https://dev.mysql.com/doc/</a:t>
            </a:r>
            <a:r>
              <a:rPr spc="-10" dirty="0">
                <a:solidFill>
                  <a:srgbClr val="0000FF"/>
                </a:solidFill>
              </a:rPr>
              <a:t> </a:t>
            </a:r>
            <a:r>
              <a:rPr spc="-10" dirty="0"/>
              <a:t>Mozilla</a:t>
            </a:r>
            <a:r>
              <a:rPr spc="-30" dirty="0"/>
              <a:t> </a:t>
            </a:r>
            <a:r>
              <a:rPr spc="-10" dirty="0"/>
              <a:t>Developer</a:t>
            </a:r>
            <a:r>
              <a:rPr spc="-25" dirty="0"/>
              <a:t> </a:t>
            </a:r>
            <a:r>
              <a:rPr dirty="0"/>
              <a:t>Network.</a:t>
            </a:r>
            <a:r>
              <a:rPr spc="-25" dirty="0"/>
              <a:t> </a:t>
            </a:r>
            <a:r>
              <a:rPr dirty="0"/>
              <a:t>(2026).</a:t>
            </a:r>
            <a:r>
              <a:rPr spc="-20" dirty="0"/>
              <a:t> </a:t>
            </a:r>
            <a:r>
              <a:rPr i="1" dirty="0">
                <a:latin typeface="Times New Roman"/>
                <a:cs typeface="Times New Roman"/>
              </a:rPr>
              <a:t>MDN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Web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Docs</a:t>
            </a:r>
            <a:r>
              <a:rPr dirty="0"/>
              <a:t>.</a:t>
            </a:r>
            <a:r>
              <a:rPr spc="-25" dirty="0"/>
              <a:t> </a:t>
            </a:r>
            <a:r>
              <a:rPr dirty="0"/>
              <a:t>Mozilla.</a:t>
            </a:r>
            <a:r>
              <a:rPr spc="-25" dirty="0"/>
              <a:t> </a:t>
            </a:r>
            <a:r>
              <a:rPr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https://developer.mozilla.org/</a:t>
            </a:r>
            <a:r>
              <a:rPr spc="-10" dirty="0">
                <a:solidFill>
                  <a:srgbClr val="0000FF"/>
                </a:solidFill>
              </a:rPr>
              <a:t> </a:t>
            </a:r>
            <a:r>
              <a:rPr dirty="0"/>
              <a:t>Bootstrap.</a:t>
            </a:r>
            <a:r>
              <a:rPr spc="-15" dirty="0"/>
              <a:t> </a:t>
            </a:r>
            <a:r>
              <a:rPr dirty="0"/>
              <a:t>(2026).</a:t>
            </a:r>
            <a:r>
              <a:rPr spc="-10" dirty="0"/>
              <a:t> </a:t>
            </a:r>
            <a:r>
              <a:rPr i="1" dirty="0">
                <a:latin typeface="Times New Roman"/>
                <a:cs typeface="Times New Roman"/>
              </a:rPr>
              <a:t>Bootstrap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i="1" spc="-10" dirty="0">
                <a:latin typeface="Times New Roman"/>
                <a:cs typeface="Times New Roman"/>
              </a:rPr>
              <a:t>documentation</a:t>
            </a:r>
            <a:r>
              <a:rPr spc="-10" dirty="0"/>
              <a:t>.</a:t>
            </a:r>
            <a:r>
              <a:rPr spc="-15" dirty="0"/>
              <a:t> </a:t>
            </a:r>
            <a:r>
              <a:rPr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https://getbootstrap.com/docs/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8355389"/>
            <a:ext cx="5941695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E5396"/>
                </a:solidFill>
                <a:latin typeface="Calibri"/>
                <a:cs typeface="Calibri"/>
              </a:rPr>
              <a:t>13.0</a:t>
            </a:r>
            <a:r>
              <a:rPr sz="1300" spc="-30" dirty="0">
                <a:solidFill>
                  <a:srgbClr val="2E539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E5396"/>
                </a:solidFill>
                <a:latin typeface="Calibri"/>
                <a:cs typeface="Calibri"/>
              </a:rPr>
              <a:t>CONCLUSION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00">
              <a:latin typeface="Calibri"/>
              <a:cs typeface="Calibri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Vacancy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convenient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Instead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walking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around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areas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1579"/>
            <a:ext cx="5936615" cy="108712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looking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"VACANT"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entirely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brokers,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preferred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price.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6286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benefit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landlords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platform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advertise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their </a:t>
            </a:r>
            <a:r>
              <a:rPr sz="1200" dirty="0">
                <a:latin typeface="Times New Roman"/>
                <a:cs typeface="Times New Roman"/>
              </a:rPr>
              <a:t>vacant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potential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communication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landlords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tenants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accommodation.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1866</Words>
  <Application>Microsoft Office PowerPoint</Application>
  <PresentationFormat>Custom</PresentationFormat>
  <Paragraphs>297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 MT</vt:lpstr>
      <vt:lpstr>Calibri</vt:lpstr>
      <vt:lpstr>Times New Roman</vt:lpstr>
      <vt:lpstr>Office Theme</vt:lpstr>
      <vt:lpstr>PROJECT PROPOSAL</vt:lpstr>
      <vt:lpstr>PowerPoint Presentation</vt:lpstr>
      <vt:lpstr>TABLE OF CONTENTS</vt:lpstr>
      <vt:lpstr>PowerPoint Presentation</vt:lpstr>
      <vt:lpstr>PROJECT PROPOSAL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</dc:title>
  <dc:creator>LEON WHITAKER</dc:creator>
  <cp:lastModifiedBy>Admin</cp:lastModifiedBy>
  <cp:revision>1</cp:revision>
  <dcterms:created xsi:type="dcterms:W3CDTF">2026-10-08T10:15:26Z</dcterms:created>
  <dcterms:modified xsi:type="dcterms:W3CDTF">2026-10-08T10:20:22Z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Creator">
    <vt:lpwstr>www.smallpdf.com</vt:lpwstr>
  </property>
  <property fmtid="{D5CDD505-2E9C-101B-9397-08002B2CF9AE}" pid="5" name="LastSaved">
    <vt:filetime>2026-10-08T00:00:00Z</vt:filetime>
  </property>
  <property fmtid="{D5CDD505-2E9C-101B-9397-08002B2CF9AE}" pid="6" name="Producer">
    <vt:lpwstr>www.smallpdf.com</vt:lpwstr>
  </property>
</Properties>
</file>